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54904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097280"/>
            <a:ext cx="3840480" cy="3840480"/>
          </a:xfrm>
          <a:prstGeom prst="ellipse">
            <a:avLst/>
          </a:prstGeom>
          <a:solidFill>
            <a:srgbClr val="22C7D9">
              <a:alpha val="12000"/>
            </a:srgbClr>
          </a:solidFill>
          <a:ln w="6350">
            <a:solidFill>
              <a:srgbClr val="22C7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589520" y="3017520"/>
            <a:ext cx="2743200" cy="2743200"/>
          </a:xfrm>
          <a:prstGeom prst="ellipse">
            <a:avLst/>
          </a:prstGeom>
          <a:solidFill>
            <a:srgbClr val="22C7D9">
              <a:alpha val="12000"/>
            </a:srgbClr>
          </a:solidFill>
          <a:ln w="6350">
            <a:solidFill>
              <a:srgbClr val="22C7D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822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22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 ·  SALES ANALYTICS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88720"/>
            <a:ext cx="6035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Performance</a:t>
            </a:r>
            <a:endParaRPr lang="en-US" sz="5000" dirty="0"/>
          </a:p>
          <a:p>
            <a:pPr marL="0" indent="0">
              <a:buNone/>
            </a:pPr>
            <a:r>
              <a:rPr lang="en-US" sz="50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</a:t>
            </a:r>
            <a:endParaRPr lang="en-US" sz="5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3464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Revenue, profit, products, customers, sales team, geography and budget – 2021 to 2023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74904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</a:t>
            </a:r>
            <a:r>
              <a:rPr lang="en-US" sz="16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Madhu Kunchala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Calibo AI Academy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0" y="822960"/>
            <a:ext cx="2377440" cy="1097280"/>
          </a:xfrm>
          <a:prstGeom prst="roundRect">
            <a:avLst>
              <a:gd name="adj" fmla="val 8333"/>
            </a:avLst>
          </a:prstGeom>
          <a:solidFill>
            <a:srgbClr val="16263C"/>
          </a:solidFill>
          <a:ln w="12700">
            <a:solidFill>
              <a:srgbClr val="22C7D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37960" y="896112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13.25M</a:t>
            </a:r>
            <a:endParaRPr lang="en-US" sz="30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6400800" y="2103120"/>
            <a:ext cx="2377440" cy="1097280"/>
          </a:xfrm>
          <a:prstGeom prst="roundRect">
            <a:avLst>
              <a:gd name="adj" fmla="val 8333"/>
            </a:avLst>
          </a:prstGeom>
          <a:solidFill>
            <a:srgbClr val="16263C"/>
          </a:solidFill>
          <a:ln w="12700">
            <a:solidFill>
              <a:srgbClr val="22C7D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37960" y="2176272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30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pages + drill-through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6400800" y="3383280"/>
            <a:ext cx="2377440" cy="1097280"/>
          </a:xfrm>
          <a:prstGeom prst="roundRect">
            <a:avLst>
              <a:gd name="adj" fmla="val 8333"/>
            </a:avLst>
          </a:prstGeom>
          <a:solidFill>
            <a:srgbClr val="16263C"/>
          </a:solidFill>
          <a:ln w="12700">
            <a:solidFill>
              <a:srgbClr val="22C7D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37960" y="3456432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2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yrs</a:t>
            </a:r>
            <a:endParaRPr lang="en-US" sz="30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 – 2023 sales data</a:t>
            </a:r>
            <a:endParaRPr lang="en-US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82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2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BEHIND THE DASHBOARDS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4114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Preparation &amp; Modeling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1581912" cy="2011680"/>
          </a:xfrm>
          <a:prstGeom prst="roundRect">
            <a:avLst>
              <a:gd name="adj" fmla="val 5780"/>
            </a:avLst>
          </a:prstGeom>
          <a:solidFill>
            <a:srgbClr val="16263C"/>
          </a:solidFill>
          <a:ln w="12700">
            <a:solidFill>
              <a:srgbClr val="2440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325880"/>
            <a:ext cx="457200" cy="457200"/>
          </a:xfrm>
          <a:prstGeom prst="ellipse">
            <a:avLst/>
          </a:prstGeom>
          <a:solidFill>
            <a:srgbClr val="22C7D9"/>
          </a:solidFill>
          <a:ln w="12700">
            <a:solidFill>
              <a:srgbClr val="22C7D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0292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187452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 data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2194560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2021, 2022 and 2023 sales into one Fact_Sales table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75688" y="1188720"/>
            <a:ext cx="1581912" cy="2011680"/>
          </a:xfrm>
          <a:prstGeom prst="roundRect">
            <a:avLst>
              <a:gd name="adj" fmla="val 5780"/>
            </a:avLst>
          </a:prstGeom>
          <a:solidFill>
            <a:srgbClr val="16263C"/>
          </a:solidFill>
          <a:ln w="12700">
            <a:solidFill>
              <a:srgbClr val="2440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12848" y="1325880"/>
            <a:ext cx="457200" cy="457200"/>
          </a:xfrm>
          <a:prstGeom prst="ellipse">
            <a:avLst/>
          </a:prstGeom>
          <a:solidFill>
            <a:srgbClr val="22C7D9"/>
          </a:solidFill>
          <a:ln w="12700">
            <a:solidFill>
              <a:srgbClr val="22C7D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212848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2212848" y="187452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dimensions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212848" y="2194560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Product, Customer, Location, Salesperson and Date dimension tables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785616" y="1188720"/>
            <a:ext cx="1581912" cy="2011680"/>
          </a:xfrm>
          <a:prstGeom prst="roundRect">
            <a:avLst>
              <a:gd name="adj" fmla="val 5780"/>
            </a:avLst>
          </a:prstGeom>
          <a:solidFill>
            <a:srgbClr val="16263C"/>
          </a:solidFill>
          <a:ln w="12700">
            <a:solidFill>
              <a:srgbClr val="2440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922776" y="1325880"/>
            <a:ext cx="457200" cy="457200"/>
          </a:xfrm>
          <a:prstGeom prst="ellipse">
            <a:avLst/>
          </a:prstGeom>
          <a:solidFill>
            <a:srgbClr val="22C7D9"/>
          </a:solidFill>
          <a:ln w="12700">
            <a:solidFill>
              <a:srgbClr val="22C7D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922776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3922776" y="187452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tables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3922776" y="2194560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One-to-many relationships from each dimension to Fact_Sales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95544" y="1188720"/>
            <a:ext cx="1581912" cy="2011680"/>
          </a:xfrm>
          <a:prstGeom prst="roundRect">
            <a:avLst>
              <a:gd name="adj" fmla="val 5780"/>
            </a:avLst>
          </a:prstGeom>
          <a:solidFill>
            <a:srgbClr val="16263C"/>
          </a:solidFill>
          <a:ln w="12700">
            <a:solidFill>
              <a:srgbClr val="24405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32704" y="1325880"/>
            <a:ext cx="457200" cy="457200"/>
          </a:xfrm>
          <a:prstGeom prst="ellipse">
            <a:avLst/>
          </a:prstGeom>
          <a:solidFill>
            <a:srgbClr val="22C7D9"/>
          </a:solidFill>
          <a:ln w="12700">
            <a:solidFill>
              <a:srgbClr val="22C7D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632704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5632704" y="187452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table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632704" y="2194560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Dim_Date marked as the official date table for time intelligence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205472" y="1188720"/>
            <a:ext cx="1581912" cy="2011680"/>
          </a:xfrm>
          <a:prstGeom prst="roundRect">
            <a:avLst>
              <a:gd name="adj" fmla="val 5780"/>
            </a:avLst>
          </a:prstGeom>
          <a:solidFill>
            <a:srgbClr val="16263C"/>
          </a:solidFill>
          <a:ln w="12700">
            <a:solidFill>
              <a:srgbClr val="24405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42632" y="1325880"/>
            <a:ext cx="457200" cy="457200"/>
          </a:xfrm>
          <a:prstGeom prst="ellipse">
            <a:avLst/>
          </a:prstGeom>
          <a:solidFill>
            <a:srgbClr val="22C7D9"/>
          </a:solidFill>
          <a:ln w="12700">
            <a:solidFill>
              <a:srgbClr val="22C7D9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342632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7342632" y="187452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DAX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7342632" y="2194560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for sales, profit, margin, growth and budget KPIs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365760" y="34290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DAX MEASURES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65760" y="3749040"/>
            <a:ext cx="1581912" cy="502920"/>
          </a:xfrm>
          <a:prstGeom prst="roundRect">
            <a:avLst>
              <a:gd name="adj" fmla="val 49091"/>
            </a:avLst>
          </a:prstGeom>
          <a:solidFill>
            <a:srgbClr val="16263C"/>
          </a:solidFill>
          <a:ln w="15875">
            <a:solidFill>
              <a:srgbClr val="F5A524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65760" y="3749040"/>
            <a:ext cx="1581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075688" y="3749040"/>
            <a:ext cx="1581912" cy="502920"/>
          </a:xfrm>
          <a:prstGeom prst="roundRect">
            <a:avLst>
              <a:gd name="adj" fmla="val 49091"/>
            </a:avLst>
          </a:prstGeom>
          <a:solidFill>
            <a:srgbClr val="16263C"/>
          </a:solidFill>
          <a:ln w="15875">
            <a:solidFill>
              <a:srgbClr val="F5A524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2075688" y="3749040"/>
            <a:ext cx="1581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Profit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785616" y="3749040"/>
            <a:ext cx="1581912" cy="502920"/>
          </a:xfrm>
          <a:prstGeom prst="roundRect">
            <a:avLst>
              <a:gd name="adj" fmla="val 49091"/>
            </a:avLst>
          </a:prstGeom>
          <a:solidFill>
            <a:srgbClr val="16263C"/>
          </a:solidFill>
          <a:ln w="15875">
            <a:solidFill>
              <a:srgbClr val="F5A524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3785616" y="3749040"/>
            <a:ext cx="1581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Margin %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495544" y="3749040"/>
            <a:ext cx="1581912" cy="502920"/>
          </a:xfrm>
          <a:prstGeom prst="roundRect">
            <a:avLst>
              <a:gd name="adj" fmla="val 49091"/>
            </a:avLst>
          </a:prstGeom>
          <a:solidFill>
            <a:srgbClr val="16263C"/>
          </a:solidFill>
          <a:ln w="15875">
            <a:solidFill>
              <a:srgbClr val="F5A524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495544" y="3749040"/>
            <a:ext cx="1581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 Growth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7205472" y="3749040"/>
            <a:ext cx="1581912" cy="502920"/>
          </a:xfrm>
          <a:prstGeom prst="roundRect">
            <a:avLst>
              <a:gd name="adj" fmla="val 49091"/>
            </a:avLst>
          </a:prstGeom>
          <a:solidFill>
            <a:srgbClr val="16263C"/>
          </a:solidFill>
          <a:ln w="15875">
            <a:solidFill>
              <a:srgbClr val="F5A524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205472" y="3749040"/>
            <a:ext cx="1581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Achievement %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365760" y="480060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Madhu Kunchala  |  Top Calibo AI Academy   ·  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82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2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 TABLE ARCHITECTURE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4114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 Schema Data Model</a:t>
            </a:r>
            <a:endParaRPr lang="en-US" sz="2800" dirty="0"/>
          </a:p>
        </p:txBody>
      </p:sp>
      <p:pic>
        <p:nvPicPr>
          <p:cNvPr id="4" name="Image 0" descr="sche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97280"/>
            <a:ext cx="5760720" cy="301924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355080" y="1097280"/>
            <a:ext cx="2423160" cy="914400"/>
          </a:xfrm>
          <a:prstGeom prst="roundRect">
            <a:avLst>
              <a:gd name="adj" fmla="val 10000"/>
            </a:avLst>
          </a:prstGeom>
          <a:solidFill>
            <a:srgbClr val="16263C"/>
          </a:solidFill>
          <a:ln w="12700">
            <a:solidFill>
              <a:srgbClr val="24405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73952" y="11430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fact table</a:t>
            </a:r>
            <a:endParaRPr lang="en-US" sz="1400" dirty="0"/>
          </a:p>
          <a:p>
            <a:pPr marL="0" indent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Fact_Sales holds orders, quantity, price and sales amount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355080" y="2121408"/>
            <a:ext cx="2423160" cy="914400"/>
          </a:xfrm>
          <a:prstGeom prst="roundRect">
            <a:avLst>
              <a:gd name="adj" fmla="val 10000"/>
            </a:avLst>
          </a:prstGeom>
          <a:solidFill>
            <a:srgbClr val="16263C"/>
          </a:solidFill>
          <a:ln w="12700">
            <a:solidFill>
              <a:srgbClr val="24405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73952" y="2167128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1:* dimensions</a:t>
            </a:r>
            <a:endParaRPr lang="en-US" sz="1400" dirty="0"/>
          </a:p>
          <a:p>
            <a:pPr marL="0" indent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Product, Customer, Location, Salesperson, Date + IDs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355080" y="3145536"/>
            <a:ext cx="2423160" cy="914400"/>
          </a:xfrm>
          <a:prstGeom prst="roundRect">
            <a:avLst>
              <a:gd name="adj" fmla="val 10000"/>
            </a:avLst>
          </a:prstGeom>
          <a:solidFill>
            <a:srgbClr val="16263C"/>
          </a:solidFill>
          <a:ln w="12700">
            <a:solidFill>
              <a:srgbClr val="24405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73952" y="3191256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Helper tables</a:t>
            </a:r>
            <a:endParaRPr lang="en-US" sz="1400" dirty="0"/>
          </a:p>
          <a:p>
            <a:pPr marL="0" indent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Budget_Data, Budget_Allocation and Date_Ranges drive budget &amp; time logic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365760" y="480060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Madhu Kunchala  |  Top Calibo AI Academy   ·  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82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2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01  ·  EXECUTIVE OVERVIEW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4114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Big picture: strong revenue, negative profit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5029200" cy="2788920"/>
          </a:xfrm>
          <a:prstGeom prst="roundRect">
            <a:avLst>
              <a:gd name="adj" fmla="val 3279"/>
            </a:avLst>
          </a:prstGeom>
          <a:solidFill>
            <a:srgbClr val="0B1626"/>
          </a:solidFill>
          <a:ln w="19050">
            <a:solidFill>
              <a:srgbClr val="22C7D9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365760" y="1097280"/>
            <a:ext cx="502920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dashboard screenshot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Overview page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4023360"/>
            <a:ext cx="5029200" cy="640080"/>
          </a:xfrm>
          <a:prstGeom prst="roundRect">
            <a:avLst>
              <a:gd name="adj" fmla="val 14286"/>
            </a:avLst>
          </a:prstGeom>
          <a:solidFill>
            <a:srgbClr val="16263C"/>
          </a:solidFill>
          <a:ln w="15875">
            <a:solidFill>
              <a:srgbClr val="F5A52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75488" y="402336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what: </a:t>
            </a: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base is strong, but profitability is negative – margin recovery is the top priority.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623560" y="1097280"/>
            <a:ext cx="3154680" cy="621792"/>
          </a:xfrm>
          <a:prstGeom prst="roundRect">
            <a:avLst>
              <a:gd name="adj" fmla="val 14706"/>
            </a:avLst>
          </a:prstGeom>
          <a:solidFill>
            <a:srgbClr val="16263C"/>
          </a:solidFill>
          <a:ln w="12700">
            <a:solidFill>
              <a:srgbClr val="24405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742432" y="1097280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13.25M</a:t>
            </a:r>
            <a:endParaRPr lang="en-US" sz="1600" dirty="0"/>
          </a:p>
          <a:p>
            <a:pPr marL="0" indent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623560" y="1801368"/>
            <a:ext cx="3154680" cy="621792"/>
          </a:xfrm>
          <a:prstGeom prst="roundRect">
            <a:avLst>
              <a:gd name="adj" fmla="val 14706"/>
            </a:avLst>
          </a:prstGeom>
          <a:solidFill>
            <a:srgbClr val="16263C"/>
          </a:solidFill>
          <a:ln w="12700">
            <a:solidFill>
              <a:srgbClr val="24405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742432" y="1801368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6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-4.06M</a:t>
            </a:r>
            <a:endParaRPr lang="en-US" sz="1600" dirty="0"/>
          </a:p>
          <a:p>
            <a:pPr marL="0" indent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profit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623560" y="2505456"/>
            <a:ext cx="3154680" cy="621792"/>
          </a:xfrm>
          <a:prstGeom prst="roundRect">
            <a:avLst>
              <a:gd name="adj" fmla="val 14706"/>
            </a:avLst>
          </a:prstGeom>
          <a:solidFill>
            <a:srgbClr val="16263C"/>
          </a:solidFill>
          <a:ln w="12700">
            <a:solidFill>
              <a:srgbClr val="24405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742432" y="2505456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6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-30.6%</a:t>
            </a:r>
            <a:endParaRPr lang="en-US" sz="1600" dirty="0"/>
          </a:p>
          <a:p>
            <a:pPr marL="0" indent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profit margin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623560" y="3209544"/>
            <a:ext cx="3154680" cy="621792"/>
          </a:xfrm>
          <a:prstGeom prst="roundRect">
            <a:avLst>
              <a:gd name="adj" fmla="val 14706"/>
            </a:avLst>
          </a:prstGeom>
          <a:solidFill>
            <a:srgbClr val="16263C"/>
          </a:solidFill>
          <a:ln w="12700">
            <a:solidFill>
              <a:srgbClr val="24405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742432" y="3209544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</a:t>
            </a:r>
            <a:endParaRPr lang="en-US" sz="1600" dirty="0"/>
          </a:p>
          <a:p>
            <a:pPr marL="0" indent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year – 6.04M revenue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623560" y="3913632"/>
            <a:ext cx="3154680" cy="621792"/>
          </a:xfrm>
          <a:prstGeom prst="roundRect">
            <a:avLst>
              <a:gd name="adj" fmla="val 14706"/>
            </a:avLst>
          </a:prstGeom>
          <a:solidFill>
            <a:srgbClr val="16263C"/>
          </a:solidFill>
          <a:ln w="12700">
            <a:solidFill>
              <a:srgbClr val="24405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742432" y="3913632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313%</a:t>
            </a:r>
            <a:endParaRPr lang="en-US" sz="1600" dirty="0"/>
          </a:p>
          <a:p>
            <a:pPr marL="0" indent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budget achievement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365760" y="480060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Madhu Kunchala  |  Top Calibo AI Academy   ·   4</a:t>
            </a:r>
            <a:endParaRPr lang="en-US" sz="9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C9289FC4-4965-D059-BE8B-605CF2C1FD5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452"/>
          <a:stretch>
            <a:fillRect/>
          </a:stretch>
        </p:blipFill>
        <p:spPr>
          <a:xfrm>
            <a:off x="266393" y="1021976"/>
            <a:ext cx="5187349" cy="292382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82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2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02  ·  SALES TREND ANALYSIS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4114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are not growing year over year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5029200" cy="2788920"/>
          </a:xfrm>
          <a:prstGeom prst="roundRect">
            <a:avLst>
              <a:gd name="adj" fmla="val 3279"/>
            </a:avLst>
          </a:prstGeom>
          <a:solidFill>
            <a:srgbClr val="0B1626"/>
          </a:solidFill>
          <a:ln w="19050">
            <a:solidFill>
              <a:srgbClr val="22C7D9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365760" y="1097280"/>
            <a:ext cx="502920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dashboard screenshot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Trend Analysis page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4023360"/>
            <a:ext cx="5029200" cy="640080"/>
          </a:xfrm>
          <a:prstGeom prst="roundRect">
            <a:avLst>
              <a:gd name="adj" fmla="val 14286"/>
            </a:avLst>
          </a:prstGeom>
          <a:solidFill>
            <a:srgbClr val="16263C"/>
          </a:solidFill>
          <a:ln w="15875">
            <a:solidFill>
              <a:srgbClr val="F5A52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75488" y="402336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what: </a:t>
            </a: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January peak and August dip show clear seasonality – plan campaigns and stock around it.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623560" y="1097280"/>
            <a:ext cx="3154680" cy="621792"/>
          </a:xfrm>
          <a:prstGeom prst="roundRect">
            <a:avLst>
              <a:gd name="adj" fmla="val 14706"/>
            </a:avLst>
          </a:prstGeom>
          <a:solidFill>
            <a:srgbClr val="16263C"/>
          </a:solidFill>
          <a:ln w="12700">
            <a:solidFill>
              <a:srgbClr val="24405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742432" y="1097280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 · 6.04M</a:t>
            </a:r>
            <a:endParaRPr lang="en-US" sz="1600" dirty="0"/>
          </a:p>
          <a:p>
            <a:pPr marL="0" indent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Highest-sales year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623560" y="1801368"/>
            <a:ext cx="3154680" cy="621792"/>
          </a:xfrm>
          <a:prstGeom prst="roundRect">
            <a:avLst>
              <a:gd name="adj" fmla="val 14706"/>
            </a:avLst>
          </a:prstGeom>
          <a:solidFill>
            <a:srgbClr val="16263C"/>
          </a:solidFill>
          <a:ln w="12700">
            <a:solidFill>
              <a:srgbClr val="24405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742432" y="1801368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6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-1.46%</a:t>
            </a:r>
            <a:endParaRPr lang="en-US" sz="1600" dirty="0"/>
          </a:p>
          <a:p>
            <a:pPr marL="0" indent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fell 2021 → 2022 (5.95M)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623560" y="2505456"/>
            <a:ext cx="3154680" cy="621792"/>
          </a:xfrm>
          <a:prstGeom prst="roundRect">
            <a:avLst>
              <a:gd name="adj" fmla="val 14706"/>
            </a:avLst>
          </a:prstGeom>
          <a:solidFill>
            <a:srgbClr val="16263C"/>
          </a:solidFill>
          <a:ln w="12700">
            <a:solidFill>
              <a:srgbClr val="24405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742432" y="2505456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· 1.52M</a:t>
            </a:r>
            <a:endParaRPr lang="en-US" sz="1600" dirty="0"/>
          </a:p>
          <a:p>
            <a:pPr marL="0" indent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month  (Aug is lowest at 0.93M)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623560" y="3209544"/>
            <a:ext cx="3154680" cy="621792"/>
          </a:xfrm>
          <a:prstGeom prst="roundRect">
            <a:avLst>
              <a:gd name="adj" fmla="val 14706"/>
            </a:avLst>
          </a:prstGeom>
          <a:solidFill>
            <a:srgbClr val="16263C"/>
          </a:solidFill>
          <a:ln w="12700">
            <a:solidFill>
              <a:srgbClr val="24405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742432" y="3209544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· 4.24M</a:t>
            </a:r>
            <a:endParaRPr lang="en-US" sz="1600" dirty="0"/>
          </a:p>
          <a:p>
            <a:pPr marL="0" indent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Best-performing quarter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623560" y="3913632"/>
            <a:ext cx="3154680" cy="621792"/>
          </a:xfrm>
          <a:prstGeom prst="roundRect">
            <a:avLst>
              <a:gd name="adj" fmla="val 14706"/>
            </a:avLst>
          </a:prstGeom>
          <a:solidFill>
            <a:srgbClr val="16263C"/>
          </a:solidFill>
          <a:ln w="12700">
            <a:solidFill>
              <a:srgbClr val="24405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742432" y="3913632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6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-14.8%</a:t>
            </a:r>
            <a:endParaRPr lang="en-US" sz="1600" dirty="0"/>
          </a:p>
          <a:p>
            <a:pPr marL="0" indent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Jan–Mar 2023 vs Jan–Mar 2022 (only 3 months of 2023)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365760" y="480060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Madhu Kunchala  |  Top Calibo AI Academy   ·   5</a:t>
            </a:r>
            <a:endParaRPr lang="en-US" sz="9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384C9DE2-C295-9EDD-3130-FE35D518889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108"/>
          <a:stretch>
            <a:fillRect/>
          </a:stretch>
        </p:blipFill>
        <p:spPr>
          <a:xfrm>
            <a:off x="306324" y="960121"/>
            <a:ext cx="5148072" cy="297114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82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2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03  ·  PRODUCT PERFORMANCE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4114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 sales do not always mean high profit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5029200" cy="2788920"/>
          </a:xfrm>
          <a:prstGeom prst="roundRect">
            <a:avLst>
              <a:gd name="adj" fmla="val 3279"/>
            </a:avLst>
          </a:prstGeom>
          <a:solidFill>
            <a:srgbClr val="0B1626"/>
          </a:solidFill>
          <a:ln w="19050">
            <a:solidFill>
              <a:srgbClr val="22C7D9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365760" y="1097280"/>
            <a:ext cx="502920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dashboard screenshot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Performance page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4023360"/>
            <a:ext cx="5029200" cy="640080"/>
          </a:xfrm>
          <a:prstGeom prst="roundRect">
            <a:avLst>
              <a:gd name="adj" fmla="val 14286"/>
            </a:avLst>
          </a:prstGeom>
          <a:solidFill>
            <a:srgbClr val="16263C"/>
          </a:solidFill>
          <a:ln w="15875">
            <a:solidFill>
              <a:srgbClr val="F5A52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75488" y="402336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what: </a:t>
            </a: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Reprice or cut costs on Products 63 and 84; double down on Product 41.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623560" y="1097280"/>
            <a:ext cx="3154680" cy="621792"/>
          </a:xfrm>
          <a:prstGeom prst="roundRect">
            <a:avLst>
              <a:gd name="adj" fmla="val 14706"/>
            </a:avLst>
          </a:prstGeom>
          <a:solidFill>
            <a:srgbClr val="16263C"/>
          </a:solidFill>
          <a:ln w="12700">
            <a:solidFill>
              <a:srgbClr val="24405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742432" y="1097280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47 · 296K</a:t>
            </a:r>
            <a:endParaRPr lang="en-US" sz="1600" dirty="0"/>
          </a:p>
          <a:p>
            <a:pPr marL="0" indent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revenue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623560" y="1801368"/>
            <a:ext cx="3154680" cy="621792"/>
          </a:xfrm>
          <a:prstGeom prst="roundRect">
            <a:avLst>
              <a:gd name="adj" fmla="val 14706"/>
            </a:avLst>
          </a:prstGeom>
          <a:solidFill>
            <a:srgbClr val="16263C"/>
          </a:solidFill>
          <a:ln w="12700">
            <a:solidFill>
              <a:srgbClr val="24405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742432" y="1801368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41 · 25.4K</a:t>
            </a:r>
            <a:endParaRPr lang="en-US" sz="1600" dirty="0"/>
          </a:p>
          <a:p>
            <a:pPr marL="0" indent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profit – prioritise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623560" y="2505456"/>
            <a:ext cx="3154680" cy="621792"/>
          </a:xfrm>
          <a:prstGeom prst="roundRect">
            <a:avLst>
              <a:gd name="adj" fmla="val 14706"/>
            </a:avLst>
          </a:prstGeom>
          <a:solidFill>
            <a:srgbClr val="16263C"/>
          </a:solidFill>
          <a:ln w="12700">
            <a:solidFill>
              <a:srgbClr val="24405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742432" y="2505456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24 · 289</a:t>
            </a:r>
            <a:endParaRPr lang="en-US" sz="1600" dirty="0"/>
          </a:p>
          <a:p>
            <a:pPr marL="0" indent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units sold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623560" y="3209544"/>
            <a:ext cx="3154680" cy="621792"/>
          </a:xfrm>
          <a:prstGeom prst="roundRect">
            <a:avLst>
              <a:gd name="adj" fmla="val 14706"/>
            </a:avLst>
          </a:prstGeom>
          <a:solidFill>
            <a:srgbClr val="16263C"/>
          </a:solidFill>
          <a:ln w="12700">
            <a:solidFill>
              <a:srgbClr val="24405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742432" y="3209544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6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-61.0%</a:t>
            </a:r>
            <a:endParaRPr lang="en-US" sz="1600" dirty="0"/>
          </a:p>
          <a:p>
            <a:pPr marL="0" indent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63 margin on 281K sales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623560" y="3913632"/>
            <a:ext cx="3154680" cy="621792"/>
          </a:xfrm>
          <a:prstGeom prst="roundRect">
            <a:avLst>
              <a:gd name="adj" fmla="val 14706"/>
            </a:avLst>
          </a:prstGeom>
          <a:solidFill>
            <a:srgbClr val="16263C"/>
          </a:solidFill>
          <a:ln w="12700">
            <a:solidFill>
              <a:srgbClr val="24405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742432" y="3913632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6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-60.2%</a:t>
            </a:r>
            <a:endParaRPr lang="en-US" sz="1600" dirty="0"/>
          </a:p>
          <a:p>
            <a:pPr marL="0" indent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84 margin – also needs repricing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365760" y="480060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Madhu Kunchala  |  Top Calibo AI Academy   ·   6</a:t>
            </a:r>
            <a:endParaRPr lang="en-US" sz="9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2AE74B69-4056-399F-5A46-5F96E75695D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174"/>
          <a:stretch>
            <a:fillRect/>
          </a:stretch>
        </p:blipFill>
        <p:spPr>
          <a:xfrm>
            <a:off x="242589" y="1031966"/>
            <a:ext cx="5224217" cy="293261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82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2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04  ·  CUSTOMER ANALYSIS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4114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Analysis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5029200" cy="2788920"/>
          </a:xfrm>
          <a:prstGeom prst="roundRect">
            <a:avLst>
              <a:gd name="adj" fmla="val 3279"/>
            </a:avLst>
          </a:prstGeom>
          <a:solidFill>
            <a:srgbClr val="0B1626"/>
          </a:solidFill>
          <a:ln w="19050">
            <a:solidFill>
              <a:srgbClr val="22C7D9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365760" y="1097280"/>
            <a:ext cx="502920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dashboard screenshot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Analysis page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4023360"/>
            <a:ext cx="5029200" cy="640080"/>
          </a:xfrm>
          <a:prstGeom prst="roundRect">
            <a:avLst>
              <a:gd name="adj" fmla="val 14286"/>
            </a:avLst>
          </a:prstGeom>
          <a:solidFill>
            <a:srgbClr val="16263C"/>
          </a:solidFill>
          <a:ln w="15875">
            <a:solidFill>
              <a:srgbClr val="F5A52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75488" y="402336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what: </a:t>
            </a: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concentration risk – but review discounts and costs for high-sales, loss-making customers.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623560" y="1097280"/>
            <a:ext cx="3154680" cy="786384"/>
          </a:xfrm>
          <a:prstGeom prst="roundRect">
            <a:avLst>
              <a:gd name="adj" fmla="val 11628"/>
            </a:avLst>
          </a:prstGeom>
          <a:solidFill>
            <a:srgbClr val="16263C"/>
          </a:solidFill>
          <a:ln w="12700">
            <a:solidFill>
              <a:srgbClr val="24405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742432" y="1097280"/>
            <a:ext cx="2926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Aaron Miller · 34.6K</a:t>
            </a:r>
            <a:endParaRPr lang="en-US" sz="1600" dirty="0"/>
          </a:p>
          <a:p>
            <a:pPr marL="0" indent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customer – also 27 orders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623560" y="1965960"/>
            <a:ext cx="3154680" cy="786384"/>
          </a:xfrm>
          <a:prstGeom prst="roundRect">
            <a:avLst>
              <a:gd name="adj" fmla="val 11628"/>
            </a:avLst>
          </a:prstGeom>
          <a:solidFill>
            <a:srgbClr val="16263C"/>
          </a:solidFill>
          <a:ln w="12700">
            <a:solidFill>
              <a:srgbClr val="24405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742432" y="1965960"/>
            <a:ext cx="2926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2.4%</a:t>
            </a:r>
            <a:endParaRPr lang="en-US" sz="1600" dirty="0"/>
          </a:p>
          <a:p>
            <a:pPr marL="0" indent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from top 10 customers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623560" y="2834640"/>
            <a:ext cx="3154680" cy="786384"/>
          </a:xfrm>
          <a:prstGeom prst="roundRect">
            <a:avLst>
              <a:gd name="adj" fmla="val 11628"/>
            </a:avLst>
          </a:prstGeom>
          <a:solidFill>
            <a:srgbClr val="16263C"/>
          </a:solidFill>
          <a:ln w="12700">
            <a:solidFill>
              <a:srgbClr val="24405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742432" y="2834640"/>
            <a:ext cx="2926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Phillip Morrison · 5.8K</a:t>
            </a:r>
            <a:endParaRPr lang="en-US" sz="1600" dirty="0"/>
          </a:p>
          <a:p>
            <a:pPr marL="0" indent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Highest-profit customer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623560" y="3703320"/>
            <a:ext cx="3154680" cy="786384"/>
          </a:xfrm>
          <a:prstGeom prst="roundRect">
            <a:avLst>
              <a:gd name="adj" fmla="val 11628"/>
            </a:avLst>
          </a:prstGeom>
          <a:solidFill>
            <a:srgbClr val="16263C"/>
          </a:solidFill>
          <a:ln w="12700">
            <a:solidFill>
              <a:srgbClr val="24405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742432" y="3703320"/>
            <a:ext cx="2926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6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-16.2K</a:t>
            </a:r>
            <a:endParaRPr lang="en-US" sz="1600" dirty="0"/>
          </a:p>
          <a:p>
            <a:pPr marL="0" indent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Morales profit on 30.9K sales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365760" y="480060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Madhu Kunchala  |  Top Calibo AI Academy   ·   7</a:t>
            </a:r>
            <a:endParaRPr lang="en-US" sz="9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8094CB73-F315-F58A-FBEE-20A9427AD6B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255"/>
          <a:stretch>
            <a:fillRect/>
          </a:stretch>
        </p:blipFill>
        <p:spPr>
          <a:xfrm>
            <a:off x="238314" y="1065275"/>
            <a:ext cx="5234370" cy="287970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82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2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05  ·  SALESPERSON PERFORMANCE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4114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seller is not the most profitable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5029200" cy="2788920"/>
          </a:xfrm>
          <a:prstGeom prst="roundRect">
            <a:avLst>
              <a:gd name="adj" fmla="val 3279"/>
            </a:avLst>
          </a:prstGeom>
          <a:solidFill>
            <a:srgbClr val="0B1626"/>
          </a:solidFill>
          <a:ln w="19050">
            <a:solidFill>
              <a:srgbClr val="22C7D9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365760" y="1097280"/>
            <a:ext cx="502920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dashboard screenshot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Salesperson Performance page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4023360"/>
            <a:ext cx="5029200" cy="640080"/>
          </a:xfrm>
          <a:prstGeom prst="roundRect">
            <a:avLst>
              <a:gd name="adj" fmla="val 14286"/>
            </a:avLst>
          </a:prstGeom>
          <a:solidFill>
            <a:srgbClr val="16263C"/>
          </a:solidFill>
          <a:ln w="15875">
            <a:solidFill>
              <a:srgbClr val="F5A52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75488" y="402336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what: </a:t>
            </a: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 Ryan Welch and Kenneth Bradley on pricing, discount control and costs.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623560" y="1097280"/>
            <a:ext cx="3154680" cy="786384"/>
          </a:xfrm>
          <a:prstGeom prst="roundRect">
            <a:avLst>
              <a:gd name="adj" fmla="val 11628"/>
            </a:avLst>
          </a:prstGeom>
          <a:solidFill>
            <a:srgbClr val="16263C"/>
          </a:solidFill>
          <a:ln w="12700">
            <a:solidFill>
              <a:srgbClr val="24405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742432" y="1097280"/>
            <a:ext cx="2926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Ryan Welch · 344K</a:t>
            </a:r>
            <a:endParaRPr lang="en-US" sz="1600" dirty="0"/>
          </a:p>
          <a:p>
            <a:pPr marL="0" indent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sales, 273 orders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623560" y="1965960"/>
            <a:ext cx="3154680" cy="786384"/>
          </a:xfrm>
          <a:prstGeom prst="roundRect">
            <a:avLst>
              <a:gd name="adj" fmla="val 11628"/>
            </a:avLst>
          </a:prstGeom>
          <a:solidFill>
            <a:srgbClr val="16263C"/>
          </a:solidFill>
          <a:ln w="12700">
            <a:solidFill>
              <a:srgbClr val="24405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742432" y="1965960"/>
            <a:ext cx="2926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61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-102K</a:t>
            </a:r>
            <a:endParaRPr lang="en-US" sz="1600" dirty="0"/>
          </a:p>
          <a:p>
            <a:pPr marL="0" indent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Ryan Welch profit despite top sales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623560" y="2834640"/>
            <a:ext cx="3154680" cy="786384"/>
          </a:xfrm>
          <a:prstGeom prst="roundRect">
            <a:avLst>
              <a:gd name="adj" fmla="val 11628"/>
            </a:avLst>
          </a:prstGeom>
          <a:solidFill>
            <a:srgbClr val="16263C"/>
          </a:solidFill>
          <a:ln w="12700">
            <a:solidFill>
              <a:srgbClr val="24405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742432" y="2834640"/>
            <a:ext cx="2926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Sean Miller · -55K</a:t>
            </a:r>
            <a:endParaRPr lang="en-US" sz="1600" dirty="0"/>
          </a:p>
          <a:p>
            <a:pPr marL="0" indent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negative profit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623560" y="3703320"/>
            <a:ext cx="3154680" cy="786384"/>
          </a:xfrm>
          <a:prstGeom prst="roundRect">
            <a:avLst>
              <a:gd name="adj" fmla="val 11628"/>
            </a:avLst>
          </a:prstGeom>
          <a:solidFill>
            <a:srgbClr val="16263C"/>
          </a:solidFill>
          <a:ln w="12700">
            <a:solidFill>
              <a:srgbClr val="24405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742432" y="3703320"/>
            <a:ext cx="2926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+21.9%</a:t>
            </a:r>
            <a:endParaRPr lang="en-US" sz="1600" dirty="0"/>
          </a:p>
          <a:p>
            <a:pPr marL="0" indent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Carl Hall – best 2021 → 2022 growth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365760" y="480060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Madhu Kunchala  |  Top Calibo AI Academy   ·   8</a:t>
            </a:r>
            <a:endParaRPr lang="en-US" sz="9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65D761F-B3E5-F3C0-A973-1F088FF6D93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848"/>
          <a:stretch>
            <a:fillRect/>
          </a:stretch>
        </p:blipFill>
        <p:spPr>
          <a:xfrm>
            <a:off x="286108" y="1045029"/>
            <a:ext cx="5154572" cy="293511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82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2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06  ·  GEOGRAPHIC ANALYSIS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4114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Geographic Analysis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5029200" cy="2788920"/>
          </a:xfrm>
          <a:prstGeom prst="roundRect">
            <a:avLst>
              <a:gd name="adj" fmla="val 3279"/>
            </a:avLst>
          </a:prstGeom>
          <a:solidFill>
            <a:srgbClr val="0B1626"/>
          </a:solidFill>
          <a:ln w="19050">
            <a:solidFill>
              <a:srgbClr val="22C7D9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365760" y="1097280"/>
            <a:ext cx="502920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dashboard screenshot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Analysis page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4023360"/>
            <a:ext cx="5029200" cy="640080"/>
          </a:xfrm>
          <a:prstGeom prst="roundRect">
            <a:avLst>
              <a:gd name="adj" fmla="val 14286"/>
            </a:avLst>
          </a:prstGeom>
          <a:solidFill>
            <a:srgbClr val="16263C"/>
          </a:solidFill>
          <a:ln w="15875">
            <a:solidFill>
              <a:srgbClr val="F5A52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75488" y="402336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what: </a:t>
            </a: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San Francisco and Fresno – large markets with untapped sales potential.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623560" y="1097280"/>
            <a:ext cx="3154680" cy="621792"/>
          </a:xfrm>
          <a:prstGeom prst="roundRect">
            <a:avLst>
              <a:gd name="adj" fmla="val 14706"/>
            </a:avLst>
          </a:prstGeom>
          <a:solidFill>
            <a:srgbClr val="16263C"/>
          </a:solidFill>
          <a:ln w="12700">
            <a:solidFill>
              <a:srgbClr val="24405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742432" y="1097280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13.25M</a:t>
            </a:r>
            <a:endParaRPr lang="en-US" sz="1600" dirty="0"/>
          </a:p>
          <a:p>
            <a:pPr marL="0" indent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California total sales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623560" y="1801368"/>
            <a:ext cx="3154680" cy="621792"/>
          </a:xfrm>
          <a:prstGeom prst="roundRect">
            <a:avLst>
              <a:gd name="adj" fmla="val 14706"/>
            </a:avLst>
          </a:prstGeom>
          <a:solidFill>
            <a:srgbClr val="16263C"/>
          </a:solidFill>
          <a:ln w="12700">
            <a:solidFill>
              <a:srgbClr val="24405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742432" y="1801368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Rialto · 227K</a:t>
            </a:r>
            <a:endParaRPr lang="en-US" sz="1600" dirty="0"/>
          </a:p>
          <a:p>
            <a:pPr marL="0" indent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Best-performing location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623560" y="2505456"/>
            <a:ext cx="3154680" cy="621792"/>
          </a:xfrm>
          <a:prstGeom prst="roundRect">
            <a:avLst>
              <a:gd name="adj" fmla="val 14706"/>
            </a:avLst>
          </a:prstGeom>
          <a:solidFill>
            <a:srgbClr val="16263C"/>
          </a:solidFill>
          <a:ln w="12700">
            <a:solidFill>
              <a:srgbClr val="24405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742432" y="2505456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 Francisco · 148K</a:t>
            </a:r>
            <a:endParaRPr lang="en-US" sz="1600" dirty="0"/>
          </a:p>
          <a:p>
            <a:pPr marL="0" indent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sales despite 865K population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623560" y="3209544"/>
            <a:ext cx="3154680" cy="621792"/>
          </a:xfrm>
          <a:prstGeom prst="roundRect">
            <a:avLst>
              <a:gd name="adj" fmla="val 14706"/>
            </a:avLst>
          </a:prstGeom>
          <a:solidFill>
            <a:srgbClr val="16263C"/>
          </a:solidFill>
          <a:ln w="12700">
            <a:solidFill>
              <a:srgbClr val="24405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742432" y="3209544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</a:t>
            </a:r>
            <a:endParaRPr lang="en-US" sz="1600" dirty="0"/>
          </a:p>
          <a:p>
            <a:pPr marL="0" indent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Correlation: population vs sales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623560" y="3913632"/>
            <a:ext cx="3154680" cy="621792"/>
          </a:xfrm>
          <a:prstGeom prst="roundRect">
            <a:avLst>
              <a:gd name="adj" fmla="val 14706"/>
            </a:avLst>
          </a:prstGeom>
          <a:solidFill>
            <a:srgbClr val="16263C"/>
          </a:solidFill>
          <a:ln w="12700">
            <a:solidFill>
              <a:srgbClr val="24405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742432" y="3913632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Fresno</a:t>
            </a:r>
            <a:endParaRPr lang="en-US" sz="1600" dirty="0"/>
          </a:p>
          <a:p>
            <a:pPr marL="0" indent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opportunity (high pop., low sales)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365760" y="480060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Madhu Kunchala  |  Top Calibo AI Academy   ·   9</a:t>
            </a:r>
            <a:endParaRPr lang="en-US" sz="9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FD5BC353-ABC1-B928-FF00-9BDB1655BC3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007"/>
          <a:stretch>
            <a:fillRect/>
          </a:stretch>
        </p:blipFill>
        <p:spPr>
          <a:xfrm>
            <a:off x="272141" y="1045029"/>
            <a:ext cx="5216437" cy="288231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82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2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07  ·  BUDGET VS ACTUAL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4114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Budget vs Actual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5029200" cy="2788920"/>
          </a:xfrm>
          <a:prstGeom prst="roundRect">
            <a:avLst>
              <a:gd name="adj" fmla="val 3279"/>
            </a:avLst>
          </a:prstGeom>
          <a:solidFill>
            <a:srgbClr val="0B1626"/>
          </a:solidFill>
          <a:ln w="19050">
            <a:solidFill>
              <a:srgbClr val="22C7D9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365760" y="1097280"/>
            <a:ext cx="502920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dashboard screenshot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vs Actual page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4023360"/>
            <a:ext cx="5029200" cy="640080"/>
          </a:xfrm>
          <a:prstGeom prst="roundRect">
            <a:avLst>
              <a:gd name="adj" fmla="val 14286"/>
            </a:avLst>
          </a:prstGeom>
          <a:solidFill>
            <a:srgbClr val="16263C"/>
          </a:solidFill>
          <a:ln w="15875">
            <a:solidFill>
              <a:srgbClr val="F5A52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75488" y="402336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A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what: </a:t>
            </a: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313% suggests budgets are set too low or mismatched by year/location – realign allocation.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623560" y="1097280"/>
            <a:ext cx="3154680" cy="621792"/>
          </a:xfrm>
          <a:prstGeom prst="roundRect">
            <a:avLst>
              <a:gd name="adj" fmla="val 14706"/>
            </a:avLst>
          </a:prstGeom>
          <a:solidFill>
            <a:srgbClr val="16263C"/>
          </a:solidFill>
          <a:ln w="12700">
            <a:solidFill>
              <a:srgbClr val="24405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742432" y="1097280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313%</a:t>
            </a:r>
            <a:endParaRPr lang="en-US" sz="1600" dirty="0"/>
          </a:p>
          <a:p>
            <a:pPr marL="0" indent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budget achievement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623560" y="1801368"/>
            <a:ext cx="3154680" cy="621792"/>
          </a:xfrm>
          <a:prstGeom prst="roundRect">
            <a:avLst>
              <a:gd name="adj" fmla="val 14706"/>
            </a:avLst>
          </a:prstGeom>
          <a:solidFill>
            <a:srgbClr val="16263C"/>
          </a:solidFill>
          <a:ln w="12700">
            <a:solidFill>
              <a:srgbClr val="24405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742432" y="1801368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</a:t>
            </a:r>
            <a:endParaRPr lang="en-US" sz="1600" dirty="0"/>
          </a:p>
          <a:p>
            <a:pPr marL="0" indent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Locations exceeded budget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623560" y="2505456"/>
            <a:ext cx="3154680" cy="621792"/>
          </a:xfrm>
          <a:prstGeom prst="roundRect">
            <a:avLst>
              <a:gd name="adj" fmla="val 14706"/>
            </a:avLst>
          </a:prstGeom>
          <a:solidFill>
            <a:srgbClr val="16263C"/>
          </a:solidFill>
          <a:ln w="12700">
            <a:solidFill>
              <a:srgbClr val="24405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742432" y="2505456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600" dirty="0"/>
          </a:p>
          <a:p>
            <a:pPr marL="0" indent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Locations missed budget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623560" y="3209544"/>
            <a:ext cx="3154680" cy="621792"/>
          </a:xfrm>
          <a:prstGeom prst="roundRect">
            <a:avLst>
              <a:gd name="adj" fmla="val 14706"/>
            </a:avLst>
          </a:prstGeom>
          <a:solidFill>
            <a:srgbClr val="16263C"/>
          </a:solidFill>
          <a:ln w="12700">
            <a:solidFill>
              <a:srgbClr val="24405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742432" y="3209544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· +1.35M</a:t>
            </a:r>
            <a:endParaRPr lang="en-US" sz="1600" dirty="0"/>
          </a:p>
          <a:p>
            <a:pPr marL="0" indent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variance (Feb +1.16M)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623560" y="3913632"/>
            <a:ext cx="3154680" cy="621792"/>
          </a:xfrm>
          <a:prstGeom prst="roundRect">
            <a:avLst>
              <a:gd name="adj" fmla="val 14706"/>
            </a:avLst>
          </a:prstGeom>
          <a:solidFill>
            <a:srgbClr val="16263C"/>
          </a:solidFill>
          <a:ln w="12700">
            <a:solidFill>
              <a:srgbClr val="24405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742432" y="3913632"/>
            <a:ext cx="2926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A180–A182</a:t>
            </a:r>
            <a:endParaRPr lang="en-US" sz="1600" dirty="0"/>
          </a:p>
          <a:p>
            <a:pPr marL="0" indent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sales vs budget – investigate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365760" y="480060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Madhu Kunchala  |  Top Calibo AI Academy   ·   10</a:t>
            </a:r>
            <a:endParaRPr lang="en-US" sz="9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DBA4297-04CB-009A-AD94-C76F58DECCC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708"/>
          <a:stretch>
            <a:fillRect/>
          </a:stretch>
        </p:blipFill>
        <p:spPr>
          <a:xfrm>
            <a:off x="293915" y="1060704"/>
            <a:ext cx="5146766" cy="285292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82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22C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INSIGHTS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4114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Data Tells Us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697480" cy="3520440"/>
          </a:xfrm>
          <a:prstGeom prst="roundRect">
            <a:avLst>
              <a:gd name="adj" fmla="val 3390"/>
            </a:avLst>
          </a:prstGeom>
          <a:solidFill>
            <a:srgbClr val="16263C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34440"/>
            <a:ext cx="2423160" cy="411480"/>
          </a:xfrm>
          <a:prstGeom prst="roundRect">
            <a:avLst>
              <a:gd name="adj" fmla="val 44444"/>
            </a:avLst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02920" y="12344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1828800"/>
            <a:ext cx="24231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revenue base – 13.25M total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High-profit products such as Product 41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locations like Rialto beat budget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0" y="1097280"/>
            <a:ext cx="2697480" cy="3520440"/>
          </a:xfrm>
          <a:prstGeom prst="roundRect">
            <a:avLst>
              <a:gd name="adj" fmla="val 3390"/>
            </a:avLst>
          </a:prstGeom>
          <a:solidFill>
            <a:srgbClr val="16263C"/>
          </a:solidFill>
          <a:ln w="12700">
            <a:solidFill>
              <a:srgbClr val="F0616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37560" y="1234440"/>
            <a:ext cx="2423160" cy="411480"/>
          </a:xfrm>
          <a:prstGeom prst="roundRect">
            <a:avLst>
              <a:gd name="adj" fmla="val 44444"/>
            </a:avLst>
          </a:prstGeom>
          <a:solidFill>
            <a:srgbClr val="F0616D"/>
          </a:solidFill>
          <a:ln w="12700">
            <a:solidFill>
              <a:srgbClr val="F0616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337560" y="12344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Concerns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337560" y="1828800"/>
            <a:ext cx="24231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fell from 2021 to 2022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profit -4.06M, margin -30.6%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63 &amp; 84 and zero-sales locations drag results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35040" y="1097280"/>
            <a:ext cx="2697480" cy="3520440"/>
          </a:xfrm>
          <a:prstGeom prst="roundRect">
            <a:avLst>
              <a:gd name="adj" fmla="val 3390"/>
            </a:avLst>
          </a:prstGeom>
          <a:solidFill>
            <a:srgbClr val="16263C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72200" y="1234440"/>
            <a:ext cx="2423160" cy="411480"/>
          </a:xfrm>
          <a:prstGeom prst="roundRect">
            <a:avLst>
              <a:gd name="adj" fmla="val 44444"/>
            </a:avLst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172200" y="12344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172200" y="1828800"/>
            <a:ext cx="24231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pricing and cost on low-margin products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Replicate top products and locations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weak locations and customers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YoY decline drivers closely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Realign budget by year and location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365760" y="480060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Madhu Kunchala  |  Top Calibo AI Academy   ·   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879</Words>
  <Application>Microsoft Office PowerPoint</Application>
  <PresentationFormat>On-screen Show (16:9)</PresentationFormat>
  <Paragraphs>181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Sales Dashboard – Madhu Kunchala</dc:title>
  <dc:subject>PptxGenJS Presentation</dc:subject>
  <dc:creator>PptxGenJS</dc:creator>
  <cp:lastModifiedBy>Madhu Kunchala</cp:lastModifiedBy>
  <cp:revision>10</cp:revision>
  <dcterms:created xsi:type="dcterms:W3CDTF">2026-09-29T04:03:09Z</dcterms:created>
  <dcterms:modified xsi:type="dcterms:W3CDTF">2026-09-29T04:14:33Z</dcterms:modified>
</cp:coreProperties>
</file>