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 INTRODUCTION
Say: "Good morning everyone. My name is Madhu Kunchala, from Top Calibo AI Academy. Today I will show my Sales Performance Dashboard, built in Power BI."
Explain: This project studies three years of sales data, from 2021 to 2023. It covers revenue, profit, products, customers, salespeople, locations and budget.
Point to the numbers on the right: total revenue is 13.25 million, there are 7 dashboard pages plus one drill-through page, and the data covers 3 years.
Finish with: "First, let me show what I did before building the dashboards."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 DATA PREPARATION &amp; MODELING
Say: "Before making any chart, I prepared the data. Good dashboards need clean and well-organised data."
Explain the 5 steps in order:
1. Append data: I had separate sales data for 2021, 2022 and 2023. I joined them into one table called Fact_Sales.
2. Build dimensions: I made small tables for Product, Customer, Location, Salesperson and Date. These describe the facts.
3. Connect tables: Each dimension connects to Fact_Sales with a one-to-many relationship. One product can appear in many sales.
4. Date table: I marked Dim_Date as the official date table, so year, quarter and month analysis works correctly.
5. Write DAX: DAX is the formula language of Power BI. I wrote measures for sales, profit, margin, growth and budget.
Point to the yellow boxes at the bottom: these are the main measures used in every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 STAR SCHEMA DATA MODEL
Say: "This is my data model. It is called a star schema because the fact table is in the middle and the dimension tables are around it, like a star."
Explain: Fact_Sales is the centre. It stores order ID, order date, quantity, price and sales amount.
Around it are Dim_Product, Dim_Customer, Dim_Location, Dim_Salesperson and Dim_Date. Each connects with a 1-to-many line (1 : *).
Bottom left, Budget_Data and Budget_Allocation help with budget calculations. Date_Ranges is a helper table that is not connected.
Why it matters: a star schema is fast, simple, and easy to understand. It also prevents wrong or duplicate numbers.
Finish with: "Now let us see the dashboards built on this model."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 EXECUTIVE OVERVIEW
Say: "This is the main summary page. A manager can understand the whole business here in 30 seconds."
(Show your screenshot on the left, then read the cards on the right.)
Explain the numbers:
- Total revenue is 13.25 million. That is a strong sales base.
- But total profit is minus 4.06 million. The business is losing money.
- Profit margin is minus 30.6 percent. For every 100 rupees of sales, we lose about 31.
- 2021 was the best year, with 6.04 million revenue.
- Budget achievement shows 313 percent, so actual sales are much higher than the budget.
Key message: "We sell a lot, but we do not earn profit. Fixing margin is the top priority."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 SALES TREND ANALYSIS
Say: "This page shows how sales change over time - by year, quarter and month."
Explain:
- 2021 had the highest sales at 6.04 million. In 2022 sales were 5.95 million, a small fall of 1.46 percent. So the business is NOT growing year over year.
- January is the best month at 1.52 million. August is the lowest at 0.93 million. This shows a seasonal pattern.
- Q1 (January to March) is the best quarter with 4.24 million.
- 2023 has only January to March data, so we cannot compare it with a full year. For the same three months, 2023 is 14.8 percent lower than 2022.
Key message: "Sales are slightly falling, and they depend on a strong January. We should plan campaigns for weak months like August."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 PRODUCT PERFORMANCE
Say: "This page shows which products make money and which do not."
Explain:
- Product 47 has the highest revenue at 296 thousand.
- Product 41 has the highest profit at 25 thousand. This is our star product and should be a priority.
- Product 24 sold the most units, 289. (Please confirm this number in your dashboard.)
- Now the problem: Product 63 sells 281 thousand but has a margin of minus 61 percent. Product 84 is also minus 60 percent.
Simple meaning: high sales but very high cost or very low price, so we lose money on every sale.
Key message: "Increase price or reduce cost on Products 63 and 84, and push Product 41 more."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 CUSTOMER ANALYSIS
Say: "This page shows who our best customers are and whether they are profitable."
Explain:
- Aaron Miller is the top customer, with 34.6 thousand in sales and 27 orders.
- The top 10 customers give only 2.4 percent of revenue. This is good news, because we do not depend on a few customers.
- Phillip Morrison gives the highest profit, 5.8 thousand.
- But Mark Morales bought 30.9 thousand and still gives a loss of 16.2 thousand. Big sales do not always mean a good customer.
Key message: "Keep the high-profit customers happy, and check discounts and costs for customers who cause losses."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 SALESPERSON PERFORMANCE
Say: "This page compares our sales team."
Explain:
- Ryan Welch is the top seller with 344 thousand in sales and 273 orders.
- But his profit is minus 102 thousand. He sells a lot, but probably with high discounts or on low-margin products.
- Sean Miller has the best profit figure, minus 55 thousand. Note that profit is negative for the whole team, so this is the least negative, not truly positive.
- Carl Hall improved the most from 2021 to 2022, by 21.9 percent.
Key message: "Top sales does not equal top profit. Ryan Welch and Kenneth Bradley need training on pricing, discounts and cost control."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9 - GEOGRAPHIC ANALYSIS
Say: "This page shows where our sales come from, using a map."
Explain:
- All 13.25 million of sales come from California.
- Rialto is the best location with 227 thousand.
- San Francisco has a big population of about 865 thousand, but sales are only 148 thousand. Murrieta is also low at 148 thousand.
- I checked whether bigger population means more sales. The correlation is almost zero, so population alone does not decide sales.
Key message: "San Francisco and Fresno are big cities with low sales, so they are our best growth opportunities."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10 - BUDGET VS ACTUAL
Say: "This last dashboard compares what we planned with what we actually sold."
Explain:
- Overall budget achievement is 313 percent, so actual sales are more than three times the budget.
- 74 locations beat their budget. 23 locations missed it, and A180, A181 and A182 had zero sales.
- January has the biggest positive variance, 1.35 million, then February with 1.16 million.
Important point: 313 percent is very high. It probably means the budget was set too low or does not match the right year and location. So it may not be a real success.
Key message: "Investigate the zero-sales locations and realign the budget by year and location."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11 - STRATEGIC INSIGHTS (CONCLUSION)
Say: "To conclude, here is what the data tells us."
Green - Strengths: we have a strong revenue base of 13.25 million, products like Product 41 make good profit, and locations like Rialto beat their budget.
Red - Concerns: revenue fell from 2021 to 2022, overall profit is negative at minus 4.06 million, and Products 63 and 84 plus zero-sales locations hurt results.
Yellow - Recommendations: fix pricing and costs on low-margin products; copy what works in top products and locations; investigate weak locations and customers; watch the yearly decline; and realign the budget.
Closing line: "The business has strong sales, but the next step is to turn those sales into profit. Thank you. I am happy to take your questions."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22C7D9">
              <a:alpha val="12000"/>
            </a:srgbClr>
          </a:solidFill>
          <a:ln w="6350">
            <a:solidFill>
              <a:srgbClr val="22C7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017520"/>
            <a:ext cx="2743200" cy="2743200"/>
          </a:xfrm>
          <a:prstGeom prst="ellipse">
            <a:avLst/>
          </a:prstGeom>
          <a:solidFill>
            <a:srgbClr val="22C7D9">
              <a:alpha val="12000"/>
            </a:srgbClr>
          </a:solidFill>
          <a:ln w="6350">
            <a:solidFill>
              <a:srgbClr val="22C7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SALES ANALYTICS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products, customers, sales team, geography and budget – 2021 to 2023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Calibo AI Academy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82296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6263C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89611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13.25M</a:t>
            </a:r>
            <a:endParaRPr lang="en-US" sz="30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6263C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7627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+ drill-through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0" y="33832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6263C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34564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yrs</a:t>
            </a:r>
            <a:endParaRPr lang="en-US" sz="30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– 2023 sales data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DASHBOARDS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Modeling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581912" cy="2011680"/>
          </a:xfrm>
          <a:prstGeom prst="roundRect">
            <a:avLst>
              <a:gd name="adj" fmla="val 578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22C7D9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2021, 2022 and 2023 sales into one Fact_Sales 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75688" y="1188720"/>
            <a:ext cx="1581912" cy="2011680"/>
          </a:xfrm>
          <a:prstGeom prst="roundRect">
            <a:avLst>
              <a:gd name="adj" fmla="val 578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2848" y="1325880"/>
            <a:ext cx="457200" cy="457200"/>
          </a:xfrm>
          <a:prstGeom prst="ellipse">
            <a:avLst/>
          </a:prstGeom>
          <a:solidFill>
            <a:srgbClr val="22C7D9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1284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dimensions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12848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Customer, Location, Salesperson and Date dimension tables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85616" y="1188720"/>
            <a:ext cx="1581912" cy="2011680"/>
          </a:xfrm>
          <a:prstGeom prst="roundRect">
            <a:avLst>
              <a:gd name="adj" fmla="val 578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22776" y="1325880"/>
            <a:ext cx="457200" cy="457200"/>
          </a:xfrm>
          <a:prstGeom prst="ellipse">
            <a:avLst/>
          </a:prstGeom>
          <a:solidFill>
            <a:srgbClr val="22C7D9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2277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22776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tables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22776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relationships from each dimension to Fact_Sales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95544" y="1188720"/>
            <a:ext cx="1581912" cy="2011680"/>
          </a:xfrm>
          <a:prstGeom prst="roundRect">
            <a:avLst>
              <a:gd name="adj" fmla="val 578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32704" y="1325880"/>
            <a:ext cx="457200" cy="457200"/>
          </a:xfrm>
          <a:prstGeom prst="ellipse">
            <a:avLst/>
          </a:prstGeom>
          <a:solidFill>
            <a:srgbClr val="22C7D9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3270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632704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table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32704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marked as the official date table for time intelligence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05472" y="1188720"/>
            <a:ext cx="1581912" cy="2011680"/>
          </a:xfrm>
          <a:prstGeom prst="roundRect">
            <a:avLst>
              <a:gd name="adj" fmla="val 578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42632" y="1325880"/>
            <a:ext cx="457200" cy="457200"/>
          </a:xfrm>
          <a:prstGeom prst="ellipse">
            <a:avLst/>
          </a:prstGeom>
          <a:solidFill>
            <a:srgbClr val="22C7D9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4263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42632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DAX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42632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for sales, profit, margin, growth and budget KPIs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1581912" cy="502920"/>
          </a:xfrm>
          <a:prstGeom prst="roundRect">
            <a:avLst>
              <a:gd name="adj" fmla="val 49091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5760" y="37490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075688" y="3749040"/>
            <a:ext cx="1581912" cy="502920"/>
          </a:xfrm>
          <a:prstGeom prst="roundRect">
            <a:avLst>
              <a:gd name="adj" fmla="val 49091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075688" y="37490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785616" y="3749040"/>
            <a:ext cx="1581912" cy="502920"/>
          </a:xfrm>
          <a:prstGeom prst="roundRect">
            <a:avLst>
              <a:gd name="adj" fmla="val 49091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85616" y="37490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95544" y="3749040"/>
            <a:ext cx="1581912" cy="502920"/>
          </a:xfrm>
          <a:prstGeom prst="roundRect">
            <a:avLst>
              <a:gd name="adj" fmla="val 49091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95544" y="37490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05472" y="3749040"/>
            <a:ext cx="1581912" cy="502920"/>
          </a:xfrm>
          <a:prstGeom prst="roundRect">
            <a:avLst>
              <a:gd name="adj" fmla="val 49091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05472" y="37490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Achievement %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Data Model</a:t>
            </a:r>
            <a:endParaRPr lang="en-US" sz="2800" dirty="0"/>
          </a:p>
        </p:txBody>
      </p:sp>
      <p:pic>
        <p:nvPicPr>
          <p:cNvPr id="4" name="Image 0" descr="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760720" cy="30192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097280"/>
            <a:ext cx="2423160" cy="914400"/>
          </a:xfrm>
          <a:prstGeom prst="roundRect">
            <a:avLst>
              <a:gd name="adj" fmla="val 1000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73952" y="1143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fact table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 holds orders, quantity, price and sales amount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55080" y="2121408"/>
            <a:ext cx="2423160" cy="914400"/>
          </a:xfrm>
          <a:prstGeom prst="roundRect">
            <a:avLst>
              <a:gd name="adj" fmla="val 1000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73952" y="21671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1:* dimensions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Customer, Location, Salesperson, Date + IDs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3145536"/>
            <a:ext cx="2423160" cy="914400"/>
          </a:xfrm>
          <a:prstGeom prst="roundRect">
            <a:avLst>
              <a:gd name="adj" fmla="val 1000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73952" y="319125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tables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Budget_Data, Budget_Allocation and Date_Ranges drive budget &amp; time logic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  ·  EXECUTIVE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picture: strong revenue, negative profit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base is strong, but profitability is negative – margin recovery is the top priority.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13.25M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801368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8013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-4.06M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505456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5054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-30.6%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profit margin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209544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2095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year – 6.04M revenue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42432" y="39136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313%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budget achievement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  ·  SALES TREND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are not growing year over year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January peak and August dip show clear seasonality – plan campaigns and stock around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· 6.04M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Highest-sales year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801368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8013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-1.46%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fell 2021 → 2022 (5.95M)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505456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5054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· 1.52M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  (Aug is lowest at 0.93M)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209544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2095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4.24M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quarter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42432" y="39136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-14.8%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2023 vs Jan–Mar 2022 (only 3 months of 2023)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  ·  PRODUCT PERFORMANCE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sales do not always mean high profit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or cut costs on Products 63 and 84; double down on Product 41.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47 · 296K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801368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8013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41 · 25.4K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– prioritise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505456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5054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24 · 289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units sold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209544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2095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-61.0%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63 margin on 281K sales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42432" y="39136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-60.2%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84 margin – also needs repricing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04  ·  CUSTOMER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concentration risk – but review discounts and costs for high-sales, loss-making customers.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Miller · 34.6K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 – also 27 orders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96596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96596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top 10 customers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83464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83464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Phillip Morrison · 5.8K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Highest-profit customer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70332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70332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-16.2K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Morales profit on 30.9K sales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05  ·  SALESPERSON PERFORMANCE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seller is not the most profitable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Performance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Ryan Welch and Kenneth Bradley on pricing, discount control and costs.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Welch · 344K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sales, 273 orders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96596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96596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-102K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Welch profit despite top sales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83464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83464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 · -55K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negative profit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70332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70332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+21.9%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 Hall – best 2021 → 2022 growth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06  ·  GEOGRAPHIC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San Francisco and Fresno – large markets with untapped sales potential.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13.25M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total sales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801368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8013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Rialto · 227K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location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505456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5054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· 148K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sales despite 865K population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209544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2095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population vs sales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42432" y="39136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Fresno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 (high pop., low sales)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07  ·  BUDGET VS ACTUAL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313% suggests budgets are set too low or mismatched by year/location – realign allocation.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313%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budget achievement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801368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8013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exceeded budget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505456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5054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missed budget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209544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2095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· +1.35M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variance (Feb +1.16M)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42432" y="39136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A180–A182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sales vs budget – investigate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16263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2423160" cy="411480"/>
          </a:xfrm>
          <a:prstGeom prst="roundRect">
            <a:avLst>
              <a:gd name="adj" fmla="val 44444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revenue base – 13.25M total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High-profit products such as Product 41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locations like Rialto beat budget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16263C"/>
          </a:solidFill>
          <a:ln w="12700">
            <a:solidFill>
              <a:srgbClr val="F061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234440"/>
            <a:ext cx="2423160" cy="411480"/>
          </a:xfrm>
          <a:prstGeom prst="roundRect">
            <a:avLst>
              <a:gd name="adj" fmla="val 44444"/>
            </a:avLst>
          </a:prstGeom>
          <a:solidFill>
            <a:srgbClr val="F0616D"/>
          </a:solidFill>
          <a:ln w="12700">
            <a:solidFill>
              <a:srgbClr val="F061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182880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from 2021 to 2022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profit -4.06M, margin -30.6%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63 &amp; 84 and zero-sales locations drag results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16263C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234440"/>
            <a:ext cx="2423160" cy="411480"/>
          </a:xfrm>
          <a:prstGeom prst="roundRect">
            <a:avLst>
              <a:gd name="adj" fmla="val 44444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82880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pricing and cost on low-margin products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top products and locations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weak locations and customers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YoY decline drivers closely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Realign budget by year and location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– Madhu Kunchala</dc:title>
  <dc:subject>PptxGenJS Presentation</dc:subject>
  <dc:creator>PptxGenJS</dc:creator>
  <cp:lastModifiedBy>PptxGenJS</cp:lastModifiedBy>
  <cp:revision>1</cp:revision>
  <dcterms:created xsi:type="dcterms:W3CDTF">2026-09-29T04:04:46Z</dcterms:created>
  <dcterms:modified xsi:type="dcterms:W3CDTF">2026-09-29T04:04:46Z</dcterms:modified>
</cp:coreProperties>
</file>